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669280" y="640080"/>
            <a:ext cx="3200400" cy="384048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5852160" y="822960"/>
            <a:ext cx="29260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50"/>
              <a:buFont typeface="Consolas"/>
              <a:buNone/>
            </a:pPr>
            <a:r>
              <a:rPr b="0" i="0" lang="en-US" sz="10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Python 🐍</a:t>
            </a:r>
            <a:br>
              <a:rPr b="0" i="0" lang="en-US" sz="10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nome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"Estudante"</a:t>
            </a:r>
            <a:br>
              <a:rPr b="0" i="0" lang="en-US" sz="10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idade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5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br>
              <a:rPr b="0" i="0" lang="en-US" sz="105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if 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idade &gt;= 18:</a:t>
            </a:r>
            <a:b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   print</a:t>
            </a:r>
            <a:r>
              <a:rPr b="0" i="0" lang="en-US" sz="10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("Maior de idade")</a:t>
            </a:r>
            <a:br>
              <a:rPr b="0" i="0" lang="en-US" sz="10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05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Lista de notas</a:t>
            </a:r>
            <a:br>
              <a:rPr b="0" i="0" lang="en-US" sz="105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5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notas</a:t>
            </a:r>
            <a:r>
              <a:rPr b="0" i="0" lang="en-US" sz="105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0" i="0" lang="en-US" sz="105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[8.5, 9.0, 7.5]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02920" y="457200"/>
            <a:ext cx="2011680" cy="347472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502920" y="45720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Ciência de Dados · T326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02920" y="1051560"/>
            <a:ext cx="49377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Módulo </a:t>
            </a:r>
            <a:r>
              <a:rPr b="1" lang="en-US" sz="4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02920" y="1691640"/>
            <a:ext cx="493776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Manipulação de dados com </a:t>
            </a:r>
            <a:r>
              <a:rPr b="1" lang="en-US" sz="3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02920" y="32461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Introdução</a:t>
            </a:r>
            <a:r>
              <a:rPr b="0" i="1" lang="en-US" sz="13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i="1" lang="en-US" sz="1300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Leitura</a:t>
            </a:r>
            <a:r>
              <a:rPr b="0" i="1" lang="en-US" sz="13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· </a:t>
            </a:r>
            <a:r>
              <a:rPr i="1" lang="en-US" sz="1300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Limpeza</a:t>
            </a:r>
            <a:r>
              <a:rPr b="0" i="1" lang="en-US" sz="13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i="1" lang="en-US" sz="1300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Manipulação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1B2D3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20040" y="4873752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Universidade de Fortaleza  ·  UNIFOR  ·  2025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 que vamos aprender?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1005840"/>
            <a:ext cx="320040" cy="41376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02920" y="1143000"/>
            <a:ext cx="83210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502920" y="1143000"/>
            <a:ext cx="475488" cy="621792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02920" y="1143000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08567" y="1321308"/>
            <a:ext cx="722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Introdução ao Pandas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02920" y="1892808"/>
            <a:ext cx="83210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02920" y="1892808"/>
            <a:ext cx="475488" cy="621792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502920" y="1892808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078992" y="2075703"/>
            <a:ext cx="722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Leitura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" y="2642616"/>
            <a:ext cx="83210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502920" y="2642616"/>
            <a:ext cx="475488" cy="621792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02920" y="2642616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078992" y="2825561"/>
            <a:ext cx="722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Limpeza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02920" y="3392424"/>
            <a:ext cx="83210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02920" y="3392424"/>
            <a:ext cx="475488" cy="621792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502920" y="3392424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108567" y="3575357"/>
            <a:ext cx="722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Manipulação de 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02920" y="4142232"/>
            <a:ext cx="8321040" cy="62179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2920" y="4142232"/>
            <a:ext cx="475488" cy="621792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02920" y="4142232"/>
            <a:ext cx="475488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78967" y="4325202"/>
            <a:ext cx="72237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Exemplo Prático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Introdução ao Pandas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5760" y="1143000"/>
            <a:ext cx="4937760" cy="356616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502920" y="123444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Instalando e Importando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02920" y="1536192"/>
            <a:ext cx="466344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lang="en-US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pandas</a:t>
            </a:r>
            <a:r>
              <a:rPr lang="en-US" sz="1100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 as </a:t>
            </a:r>
            <a:r>
              <a:rPr lang="en-US" sz="11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pd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1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Criando um Dataframe manualmente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dados = {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"nome"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"Ana"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 "Bruno"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 "Carlos"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    "idade"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23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 35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29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],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    "nota"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8.5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7.0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050">
                <a:solidFill>
                  <a:srgbClr val="E06666"/>
                </a:solidFill>
                <a:latin typeface="Courier New"/>
                <a:ea typeface="Courier New"/>
                <a:cs typeface="Courier New"/>
                <a:sym typeface="Courier New"/>
              </a:rPr>
              <a:t>9.2</a:t>
            </a:r>
            <a:r>
              <a:rPr lang="en-US" sz="105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05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df = pd.DataFrame(dados)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df</a:t>
            </a:r>
            <a:endParaRPr sz="105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A9955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577840" y="118872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Usada para</a:t>
            </a: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577840" y="1627632"/>
            <a:ext cx="3200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577850" y="1627625"/>
            <a:ext cx="3231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D3E"/>
              </a:buClr>
              <a:buSzPts val="1150"/>
              <a:buFont typeface="Consolas"/>
              <a:buChar char="●"/>
            </a:pPr>
            <a:r>
              <a:rPr lang="en-US" sz="1150">
                <a:solidFill>
                  <a:srgbClr val="1B2D3E"/>
                </a:solidFill>
                <a:latin typeface="Consolas"/>
                <a:ea typeface="Consolas"/>
                <a:cs typeface="Consolas"/>
                <a:sym typeface="Consolas"/>
              </a:rPr>
              <a:t>Ler Dados (CSV, Excel, etc.)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577840" y="2377440"/>
            <a:ext cx="3200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5577850" y="2377450"/>
            <a:ext cx="32004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D3E"/>
              </a:buClr>
              <a:buSzPts val="1150"/>
              <a:buFont typeface="Consolas"/>
              <a:buChar char="●"/>
            </a:pPr>
            <a:r>
              <a:rPr lang="en-US" sz="1150">
                <a:solidFill>
                  <a:srgbClr val="1B2D3E"/>
                </a:solidFill>
                <a:latin typeface="Consolas"/>
                <a:ea typeface="Consolas"/>
                <a:cs typeface="Consolas"/>
                <a:sym typeface="Consolas"/>
              </a:rPr>
              <a:t>Organizar Dados em tabelas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5577840" y="3127248"/>
            <a:ext cx="3200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577848" y="3127250"/>
            <a:ext cx="306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D3E"/>
              </a:buClr>
              <a:buSzPts val="1150"/>
              <a:buFont typeface="Consolas"/>
              <a:buChar char="●"/>
            </a:pPr>
            <a:r>
              <a:rPr lang="en-US" sz="1150">
                <a:solidFill>
                  <a:srgbClr val="1B2D3E"/>
                </a:solidFill>
                <a:latin typeface="Consolas"/>
                <a:ea typeface="Consolas"/>
                <a:cs typeface="Consolas"/>
                <a:sym typeface="Consolas"/>
              </a:rPr>
              <a:t>Limpar Dados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577840" y="3877056"/>
            <a:ext cx="320040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5577773" y="3877050"/>
            <a:ext cx="30633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B2D3E"/>
              </a:buClr>
              <a:buSzPts val="1150"/>
              <a:buFont typeface="Consolas"/>
              <a:buChar char="●"/>
            </a:pPr>
            <a:r>
              <a:rPr lang="en-US" sz="1150">
                <a:solidFill>
                  <a:srgbClr val="1B2D3E"/>
                </a:solidFill>
                <a:latin typeface="Consolas"/>
                <a:ea typeface="Consolas"/>
                <a:cs typeface="Consolas"/>
                <a:sym typeface="Consolas"/>
              </a:rPr>
              <a:t>Fazer análises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Leitura de Dados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Como funciona?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365760" y="1572768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365751" y="1572775"/>
            <a:ext cx="4023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3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D3E"/>
                </a:solidFill>
                <a:latin typeface="Calibri"/>
                <a:ea typeface="Calibri"/>
                <a:cs typeface="Calibri"/>
                <a:sym typeface="Calibri"/>
              </a:rPr>
              <a:t>Ler um arquivo CSV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365760" y="2350008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365826" y="2350000"/>
            <a:ext cx="4023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3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D3E"/>
                </a:solidFill>
                <a:latin typeface="Calibri"/>
                <a:ea typeface="Calibri"/>
                <a:cs typeface="Calibri"/>
                <a:sym typeface="Calibri"/>
              </a:rPr>
              <a:t>Informações gerais do Dataset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365760" y="3127248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365751" y="3127250"/>
            <a:ext cx="40233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3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B2D3E"/>
                </a:solidFill>
                <a:latin typeface="Calibri"/>
                <a:ea typeface="Calibri"/>
                <a:cs typeface="Calibri"/>
                <a:sym typeface="Calibri"/>
              </a:rPr>
              <a:t>Estatísticas básicas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663440" y="1097280"/>
            <a:ext cx="4206240" cy="292608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846320" y="1280160"/>
            <a:ext cx="38404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lang="en-US" sz="11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Lendo um arquivo csv</a:t>
            </a:r>
            <a:endParaRPr sz="110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df = pd.read_csv(</a:t>
            </a:r>
            <a:r>
              <a:rPr lang="en-US" sz="1050">
                <a:solidFill>
                  <a:srgbClr val="FF0000"/>
                </a:solidFill>
              </a:rPr>
              <a:t>"dados.csv"</a:t>
            </a:r>
            <a:r>
              <a:rPr lang="en-US" sz="1050">
                <a:solidFill>
                  <a:schemeClr val="lt1"/>
                </a:solidFill>
              </a:rPr>
              <a:t>)</a:t>
            </a:r>
            <a:endParaRPr sz="1050">
              <a:solidFill>
                <a:schemeClr val="lt1"/>
              </a:solidFill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df.head()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Informações gerais do Dataset</a:t>
            </a:r>
            <a:endParaRPr sz="110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rPr lang="en-US" sz="11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050">
                <a:solidFill>
                  <a:schemeClr val="lt1"/>
                </a:solidFill>
              </a:rPr>
              <a:t>df.info()</a:t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t/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rPr lang="en-US" sz="1000">
                <a:solidFill>
                  <a:srgbClr val="6A9955"/>
                </a:solidFill>
              </a:rPr>
              <a:t>#Estatísticas básicas</a:t>
            </a:r>
            <a:endParaRPr sz="1000">
              <a:solidFill>
                <a:srgbClr val="6A99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rPr lang="en-US" sz="1050">
                <a:solidFill>
                  <a:schemeClr val="lt1"/>
                </a:solidFill>
              </a:rPr>
              <a:t>  df.describe()</a:t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t/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t/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t/>
            </a:r>
            <a:endParaRPr sz="105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Limpeza de Dados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393222" y="1111005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nulos (faltantes)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365750" y="1508755"/>
            <a:ext cx="4023300" cy="127740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530350" y="1627625"/>
            <a:ext cx="37491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accent6"/>
                </a:solidFill>
              </a:rPr>
              <a:t># Identifica a quantidade de dados ausentes em cada coluna para avaliar a integridade do dataset. </a:t>
            </a:r>
            <a:r>
              <a:rPr lang="en-US" sz="1050">
                <a:solidFill>
                  <a:srgbClr val="1A5C3A"/>
                </a:solidFill>
              </a:rPr>
              <a:t> </a:t>
            </a:r>
            <a:endParaRPr sz="1050">
              <a:solidFill>
                <a:srgbClr val="1A5C3A"/>
              </a:solidFill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df.isnull().</a:t>
            </a:r>
            <a:r>
              <a:rPr lang="en-US" sz="1050">
                <a:solidFill>
                  <a:schemeClr val="accent1"/>
                </a:solidFill>
              </a:rPr>
              <a:t>sum</a:t>
            </a:r>
            <a:r>
              <a:rPr lang="en-US" sz="1050">
                <a:solidFill>
                  <a:schemeClr val="lt1"/>
                </a:solidFill>
              </a:rPr>
              <a:t>() 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b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Removendo valores nulos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754875" y="1508750"/>
            <a:ext cx="4023300" cy="127740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4919475" y="1627629"/>
            <a:ext cx="37491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accent6"/>
                </a:solidFill>
              </a:rPr>
              <a:t># Exclui linhas que possuem informações vazias para garantir que a análise utilize apenas registros completos. </a:t>
            </a:r>
            <a:endParaRPr sz="1050">
              <a:solidFill>
                <a:schemeClr val="accent6"/>
              </a:solidFill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df = df.</a:t>
            </a:r>
            <a:r>
              <a:rPr lang="en-US" sz="1050">
                <a:solidFill>
                  <a:schemeClr val="accent1"/>
                </a:solidFill>
              </a:rPr>
              <a:t>dropna</a:t>
            </a:r>
            <a:r>
              <a:rPr lang="en-US" sz="1050">
                <a:solidFill>
                  <a:schemeClr val="lt1"/>
                </a:solidFill>
              </a:rPr>
              <a:t>() 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58922" y="3043092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nulos (faltantes)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358922" y="3043105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nulos (faltantes)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422872" y="3215430"/>
            <a:ext cx="4023300" cy="4116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422872" y="3215430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Dados Duplicados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22863" y="3626905"/>
            <a:ext cx="4023300" cy="127740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587463" y="3745775"/>
            <a:ext cx="37491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accent6"/>
                </a:solidFill>
              </a:rPr>
              <a:t># Localiza registros que aparecem mais de uma vez para evitar distorções em cálculos e estatísticas.</a:t>
            </a:r>
            <a:endParaRPr sz="1050">
              <a:solidFill>
                <a:schemeClr val="accent6"/>
              </a:solidFill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df.</a:t>
            </a:r>
            <a:r>
              <a:rPr lang="en-US" sz="1050">
                <a:solidFill>
                  <a:schemeClr val="accent1"/>
                </a:solidFill>
              </a:rPr>
              <a:t>duplicated</a:t>
            </a:r>
            <a:r>
              <a:rPr lang="en-US" sz="1050">
                <a:solidFill>
                  <a:schemeClr val="lt1"/>
                </a:solidFill>
              </a:rPr>
              <a:t>()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b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50372" y="5161243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nulos (faltantes)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450372" y="5161255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nulos (faltantes)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734298" y="3215430"/>
            <a:ext cx="4023300" cy="4116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734298" y="3215430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Removendo Duplicados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734288" y="3626905"/>
            <a:ext cx="4023300" cy="127740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4898888" y="3745775"/>
            <a:ext cx="3749100" cy="8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accent6"/>
                </a:solidFill>
              </a:rPr>
              <a:t># Elimina as entradas repetidas, mantendo apenas uma ocorrência única de cada linha no DataFrame. </a:t>
            </a:r>
            <a:endParaRPr sz="1050">
              <a:solidFill>
                <a:schemeClr val="accent6"/>
              </a:solidFill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df = df.</a:t>
            </a:r>
            <a:r>
              <a:rPr lang="en-US" sz="1050">
                <a:solidFill>
                  <a:schemeClr val="accent1"/>
                </a:solidFill>
              </a:rPr>
              <a:t>drop_duplicates</a:t>
            </a:r>
            <a:r>
              <a:rPr lang="en-US" sz="1050">
                <a:solidFill>
                  <a:schemeClr val="lt1"/>
                </a:solidFill>
              </a:rPr>
              <a:t>()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onsolas"/>
              <a:buNone/>
            </a:pPr>
            <a:b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761798" y="5161243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nulos (faltantes)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761798" y="5161255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Valores nulos (faltantes)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Manipulação de Dados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274320" y="1097280"/>
            <a:ext cx="278892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274320" y="1097280"/>
            <a:ext cx="2788920" cy="45720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274320" y="10972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lang="en-US" sz="13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Seleção de colunas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365785" y="1668783"/>
            <a:ext cx="2606100" cy="2606100"/>
          </a:xfrm>
          <a:prstGeom prst="rect">
            <a:avLst/>
          </a:prstGeom>
          <a:solidFill>
            <a:srgbClr val="1B2D3E"/>
          </a:solidFill>
          <a:ln cap="flat" cmpd="sng" w="1015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8"/>
          <p:cNvSpPr/>
          <p:nvPr/>
        </p:nvSpPr>
        <p:spPr>
          <a:xfrm>
            <a:off x="429687" y="1412573"/>
            <a:ext cx="24690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  df["nome"]</a:t>
            </a:r>
            <a:endParaRPr sz="1050">
              <a:solidFill>
                <a:schemeClr val="lt1"/>
              </a:solidFill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df[["nome", "nota"]]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3246120" y="1097280"/>
            <a:ext cx="278892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"/>
          <p:cNvSpPr/>
          <p:nvPr/>
        </p:nvSpPr>
        <p:spPr>
          <a:xfrm>
            <a:off x="3246120" y="1097280"/>
            <a:ext cx="2788920" cy="457200"/>
          </a:xfrm>
          <a:prstGeom prst="rect">
            <a:avLst/>
          </a:prstGeom>
          <a:solidFill>
            <a:srgbClr val="7B2D8B"/>
          </a:solidFill>
          <a:ln cap="flat" cmpd="sng" w="1270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3246120" y="10972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lang="en-US" sz="13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Filtro de dados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3337573" y="1702945"/>
            <a:ext cx="2606100" cy="2606100"/>
          </a:xfrm>
          <a:prstGeom prst="rect">
            <a:avLst/>
          </a:prstGeom>
          <a:solidFill>
            <a:srgbClr val="1B2D3E"/>
          </a:solidFill>
          <a:ln cap="flat" cmpd="sng" w="10150">
            <a:solidFill>
              <a:srgbClr val="7B2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3406087" y="1493848"/>
            <a:ext cx="24690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 df[df["nota"] &gt;= 7]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217920" y="1097280"/>
            <a:ext cx="2788920" cy="3749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D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6217920" y="1097280"/>
            <a:ext cx="2788920" cy="457200"/>
          </a:xfrm>
          <a:prstGeom prst="rect">
            <a:avLst/>
          </a:prstGeom>
          <a:solidFill>
            <a:srgbClr val="B5451B"/>
          </a:solidFill>
          <a:ln cap="flat" cmpd="sng" w="1270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6217920" y="10972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onsolas"/>
              <a:buNone/>
            </a:pPr>
            <a:r>
              <a:rPr b="1" lang="en-US" sz="135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Ordenação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309310" y="1702983"/>
            <a:ext cx="2606100" cy="2606100"/>
          </a:xfrm>
          <a:prstGeom prst="rect">
            <a:avLst/>
          </a:prstGeom>
          <a:solidFill>
            <a:srgbClr val="1B2D3E"/>
          </a:solidFill>
          <a:ln cap="flat" cmpd="sng" w="10150">
            <a:solidFill>
              <a:srgbClr val="B545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272700" y="1584700"/>
            <a:ext cx="26793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   df.sort_values</a:t>
            </a:r>
            <a:endParaRPr sz="1050">
              <a:solidFill>
                <a:schemeClr val="lt1"/>
              </a:solidFill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chemeClr val="lt1"/>
                </a:solidFill>
              </a:rPr>
              <a:t>             (by="nota",ascending=False)</a:t>
            </a:r>
            <a:endParaRPr sz="105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t/>
            </a:r>
            <a:endParaRPr sz="11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🏋️  Hora de Praticar!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Lista de Exercícios — Módulo </a:t>
            </a:r>
            <a:r>
              <a:rPr i="1" lang="en-US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457200" y="1417320"/>
            <a:ext cx="8229600" cy="566928"/>
          </a:xfrm>
          <a:prstGeom prst="rect">
            <a:avLst/>
          </a:prstGeom>
          <a:solidFill>
            <a:srgbClr val="1B2D3E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457200" y="1417320"/>
            <a:ext cx="457200" cy="56692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457200" y="1417320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1005840" y="1417320"/>
            <a:ext cx="7498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Crie um Data Frame com as seguinte informações: Nomes, Idades e Notas. Depois exiba o Data Frame.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457200" y="2130552"/>
            <a:ext cx="8229600" cy="566928"/>
          </a:xfrm>
          <a:prstGeom prst="rect">
            <a:avLst/>
          </a:prstGeom>
          <a:solidFill>
            <a:srgbClr val="1B2D3E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457200" y="2130552"/>
            <a:ext cx="457200" cy="56692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457200" y="2130552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1005840" y="2130552"/>
            <a:ext cx="7498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F0F4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Utilizando um Data Frame exiba as 5 primeiras linhas, mostre as informações gerais e as estatísticas descritivas.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rgbClr val="F0F4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57200" y="2843784"/>
            <a:ext cx="8229600" cy="566928"/>
          </a:xfrm>
          <a:prstGeom prst="rect">
            <a:avLst/>
          </a:prstGeom>
          <a:solidFill>
            <a:srgbClr val="1B2D3E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57200" y="2843784"/>
            <a:ext cx="457200" cy="56692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457200" y="2843784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1005840" y="2843784"/>
            <a:ext cx="7498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Com o Data Frame anterior verifique os valores nulos e remova os dados duplicados.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457200" y="3557016"/>
            <a:ext cx="8229600" cy="566928"/>
          </a:xfrm>
          <a:prstGeom prst="rect">
            <a:avLst/>
          </a:prstGeom>
          <a:solidFill>
            <a:srgbClr val="1B2D3E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457200" y="3557016"/>
            <a:ext cx="457200" cy="566928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457200" y="3557016"/>
            <a:ext cx="457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1005840" y="3557016"/>
            <a:ext cx="7498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Utilizando um Data Frame com colunas nome e nota: Filtre apenas os alunos com nota maior ou igual a 7.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0" y="0"/>
            <a:ext cx="9144000" cy="63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0" y="5079492"/>
            <a:ext cx="9144000" cy="639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0" y="4572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Calibri"/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🎉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457200" y="137160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Parabéns por completar o Módulo </a:t>
            </a: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457200" y="196596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FC2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Você aprendeu os </a:t>
            </a:r>
            <a:r>
              <a:rPr i="1" lang="en-US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conceitos do Pandas</a:t>
            </a:r>
            <a:r>
              <a:rPr b="0" i="1" lang="en-US" sz="1400" u="none" cap="none" strike="noStrike">
                <a:solidFill>
                  <a:srgbClr val="8EAFC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371600" y="2377440"/>
            <a:ext cx="6400800" cy="1737300"/>
          </a:xfrm>
          <a:prstGeom prst="rect">
            <a:avLst/>
          </a:prstGeom>
          <a:solidFill>
            <a:srgbClr val="1B2D3E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1508760" y="2450592"/>
            <a:ext cx="6126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Resumo do Módulo: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508760" y="2816352"/>
            <a:ext cx="1965900" cy="3474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1508760" y="2816352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Introdução ao Pandas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3611880" y="2816352"/>
            <a:ext cx="1965900" cy="3474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3611880" y="2816352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Leitura de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715000" y="2816352"/>
            <a:ext cx="1965900" cy="3474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5715000" y="2816352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Limpeza de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508760" y="3291840"/>
            <a:ext cx="1965900" cy="3474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1508760" y="3291840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Manipulação de Dados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611880" y="3291840"/>
            <a:ext cx="1965900" cy="347400"/>
          </a:xfrm>
          <a:prstGeom prst="rect">
            <a:avLst/>
          </a:prstGeom>
          <a:solidFill>
            <a:srgbClr val="0D1B2A"/>
          </a:solidFill>
          <a:ln cap="flat" cmpd="sng" w="9525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3611880" y="3291840"/>
            <a:ext cx="19659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</a:t>
            </a: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Exemplo Prático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457200" y="45720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Próximo: Módulo </a:t>
            </a:r>
            <a:r>
              <a:rPr i="1" lang="en-US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1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 — </a:t>
            </a:r>
            <a:r>
              <a:rPr b="0" i="1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Visualização de Dados com Matplotlib e </a:t>
            </a:r>
            <a:r>
              <a:rPr i="1" lang="en-US" sz="12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Seaborn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