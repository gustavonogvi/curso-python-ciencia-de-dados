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y="5143500" cx="9144000"/>
  <p:notesSz cx="6858000" cy="9144000"/>
  <p:embeddedFontLst>
    <p:embeddedFont>
      <p:font typeface="Nunito"/>
      <p:regular r:id="rId33"/>
      <p:bold r:id="rId34"/>
      <p:italic r:id="rId35"/>
      <p:boldItalic r:id="rId36"/>
    </p:embeddedFont>
    <p:embeddedFont>
      <p:font typeface="Maven Pro"/>
      <p:regular r:id="rId37"/>
      <p:bold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font" Target="fonts/Nunito-regular.fntdata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font" Target="fonts/Nunito-italic.fntdata"/><Relationship Id="rId12" Type="http://schemas.openxmlformats.org/officeDocument/2006/relationships/slide" Target="slides/slide7.xml"/><Relationship Id="rId34" Type="http://schemas.openxmlformats.org/officeDocument/2006/relationships/font" Target="fonts/Nunito-bold.fntdata"/><Relationship Id="rId15" Type="http://schemas.openxmlformats.org/officeDocument/2006/relationships/slide" Target="slides/slide10.xml"/><Relationship Id="rId37" Type="http://schemas.openxmlformats.org/officeDocument/2006/relationships/font" Target="fonts/MavenPro-regular.fntdata"/><Relationship Id="rId14" Type="http://schemas.openxmlformats.org/officeDocument/2006/relationships/slide" Target="slides/slide9.xml"/><Relationship Id="rId36" Type="http://schemas.openxmlformats.org/officeDocument/2006/relationships/font" Target="fonts/Nunito-bold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38" Type="http://schemas.openxmlformats.org/officeDocument/2006/relationships/font" Target="fonts/MavenPro-bold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c6f73a04f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c6f73a0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d3864fc9cb_0_3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d3864fc9cb_0_3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c6f73a04f_0_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c6f73a0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c6f73a04f_0_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c6f73a04f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c6f73a04f_0_14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c6f73a04f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d3864fc9cb_0_35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d3864fc9cb_0_3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c6f73a04f_0_2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c6f73a04f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d3c210bb8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d3c210bb8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d3c210bb82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d3c210bb8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d3c210bb82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d3c210bb82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d3c210bb8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3d3c210bb8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d3c210bb82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d3c210bb82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d3c210bb82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3d3c210bb82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d3c210bb82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3d3c210bb82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d3c210bb82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3d3c210bb82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d3c210bb82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3d3c210bb82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d3c210bb82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3d3c210bb82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d3c210bb82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3d3c210bb82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d3c210bb82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d3c210bb82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d8f7d7e9c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3d8f7d7e9c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d8f7d7e9c1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" name="Google Shape;418;g3d8f7d7e9c1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d3c210bb82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3d3c210bb82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d3c210bb82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d3c210bb82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3d3c210bb82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3d3c210bb82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d8f7d7e9c1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d8f7d7e9c1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d3c210bb82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d3c210bb82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d3c210bb82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3d3c210bb82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fmla="val 8244818" name="adj1"/>
                  <a:gd fmla="val 16246175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fmla="val 8801158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fmla="val 1255410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" name="Google Shape;46;p2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2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2" name="Google Shape;82;p3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3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8" name="Google Shape;88;p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9" name="Google Shape;89;p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4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6" name="Google Shape;96;p5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7" name="Google Shape;97;p5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5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4" name="Google Shape;104;p6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" name="Google Shape;109;p7"/>
          <p:cNvSpPr txBox="1"/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7"/>
          <p:cNvSpPr txBox="1"/>
          <p:nvPr>
            <p:ph idx="1" type="body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1" name="Google Shape;111;p7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5" name="Google Shape;125;p8"/>
          <p:cNvSpPr txBox="1"/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8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" name="Google Shape;131;p9"/>
          <p:cNvSpPr txBox="1"/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2" name="Google Shape;132;p9"/>
          <p:cNvSpPr txBox="1"/>
          <p:nvPr>
            <p:ph idx="1" type="subTitle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3" name="Google Shape;133;p9"/>
          <p:cNvSpPr txBox="1"/>
          <p:nvPr>
            <p:ph idx="2" type="body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4" name="Google Shape;134;p9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" name="Google Shape;139;p10"/>
          <p:cNvSpPr txBox="1"/>
          <p:nvPr>
            <p:ph idx="1" type="body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40" name="Google Shape;140;p10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8" name="Google Shape;268;p11"/>
          <p:cNvSpPr txBox="1"/>
          <p:nvPr>
            <p:ph hasCustomPrompt="1" type="title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/>
          <p:nvPr>
            <p:ph idx="1" type="body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0" name="Google Shape;270;p1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omentu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8.png"/><Relationship Id="rId4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neurochatter.com/scaling-the-brain-is-it-dishonest-to-truncate-your-y-axis/" TargetMode="External"/><Relationship Id="rId4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www.tylervigen.com/spurious/correlation/2638_yogurt-consumption_correlates-with_the-bank-of-nova-scotias-stock-price" TargetMode="External"/><Relationship Id="rId4" Type="http://schemas.openxmlformats.org/officeDocument/2006/relationships/image" Target="../media/image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www.lrs.org/2020/06/10/visualizing-data-manipulating-the-y-axis/" TargetMode="External"/><Relationship Id="rId4" Type="http://schemas.openxmlformats.org/officeDocument/2006/relationships/image" Target="../media/image1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/>
          <p:nvPr>
            <p:ph type="ctrTitle"/>
          </p:nvPr>
        </p:nvSpPr>
        <p:spPr>
          <a:xfrm>
            <a:off x="824000" y="1613825"/>
            <a:ext cx="48342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Visualizaç</a:t>
            </a:r>
            <a:r>
              <a:rPr lang="en"/>
              <a:t>ão de Dados com Matplotlib e Seaborn</a:t>
            </a:r>
            <a:endParaRPr/>
          </a:p>
        </p:txBody>
      </p:sp>
      <p:sp>
        <p:nvSpPr>
          <p:cNvPr id="278" name="Google Shape;278;p13"/>
          <p:cNvSpPr txBox="1"/>
          <p:nvPr>
            <p:ph idx="1" type="subTitle"/>
          </p:nvPr>
        </p:nvSpPr>
        <p:spPr>
          <a:xfrm>
            <a:off x="824000" y="3596300"/>
            <a:ext cx="48927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Comunicação objetiva com gráficos</a:t>
            </a:r>
            <a:endParaRPr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Módulo 3</a:t>
            </a:r>
            <a:endParaRPr/>
          </a:p>
        </p:txBody>
      </p:sp>
      <p:sp>
        <p:nvSpPr>
          <p:cNvPr id="284" name="Google Shape;284;p1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/>
              <a:t>Conheça as ferramentas;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/>
              <a:t>Como escolher o gráfico ideal;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/>
              <a:t>Escolhendo as cores;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/>
              <a:t>Evitando gráficos enganosos;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5"/>
          <p:cNvSpPr txBox="1"/>
          <p:nvPr>
            <p:ph type="title"/>
          </p:nvPr>
        </p:nvSpPr>
        <p:spPr>
          <a:xfrm>
            <a:off x="824000" y="1613825"/>
            <a:ext cx="6754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457200" lvl="0" marL="457200" rtl="0" algn="l">
              <a:spcBef>
                <a:spcPts val="0"/>
              </a:spcBef>
              <a:spcAft>
                <a:spcPts val="0"/>
              </a:spcAft>
              <a:buSzPts val="3600"/>
              <a:buAutoNum type="arabicPeriod"/>
            </a:pPr>
            <a:r>
              <a:rPr lang="en"/>
              <a:t>Conheça as ferramentas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6"/>
          <p:cNvSpPr txBox="1"/>
          <p:nvPr>
            <p:ph type="title"/>
          </p:nvPr>
        </p:nvSpPr>
        <p:spPr>
          <a:xfrm>
            <a:off x="1303800" y="598575"/>
            <a:ext cx="3312000" cy="109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Conheça as ferramentas</a:t>
            </a:r>
            <a:endParaRPr/>
          </a:p>
        </p:txBody>
      </p:sp>
      <p:sp>
        <p:nvSpPr>
          <p:cNvPr id="295" name="Google Shape;295;p16"/>
          <p:cNvSpPr txBox="1"/>
          <p:nvPr>
            <p:ph idx="1" type="body"/>
          </p:nvPr>
        </p:nvSpPr>
        <p:spPr>
          <a:xfrm>
            <a:off x="1303800" y="1819475"/>
            <a:ext cx="3312000" cy="271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Neste curso, usaremos duas bibliotecas para a criaç</a:t>
            </a:r>
            <a:r>
              <a:rPr lang="en" sz="1500"/>
              <a:t>ão de gráficos:</a:t>
            </a:r>
            <a:endParaRPr sz="1500"/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Matplotlib: a principal biblioteca para visualizaç</a:t>
            </a:r>
            <a:r>
              <a:rPr lang="en" sz="1500"/>
              <a:t>ão de dados;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Seaborn: criaç</a:t>
            </a:r>
            <a:r>
              <a:rPr lang="en" sz="1500"/>
              <a:t>ão de </a:t>
            </a:r>
            <a:r>
              <a:rPr lang="en" sz="1500"/>
              <a:t>gráficos complexos com poucas linhas de código.</a:t>
            </a:r>
            <a:endParaRPr sz="1500"/>
          </a:p>
        </p:txBody>
      </p:sp>
      <p:pic>
        <p:nvPicPr>
          <p:cNvPr id="296" name="Google Shape;29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52175" y="950175"/>
            <a:ext cx="1638300" cy="16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70850" y="2188575"/>
            <a:ext cx="1952625" cy="234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7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Matplotlib</a:t>
            </a:r>
            <a:endParaRPr/>
          </a:p>
        </p:txBody>
      </p:sp>
      <p:sp>
        <p:nvSpPr>
          <p:cNvPr id="303" name="Google Shape;303;p17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 fluxo tende a ser o seguinte: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AutoNum type="arabicPeriod"/>
            </a:pPr>
            <a:r>
              <a:rPr lang="en"/>
              <a:t>Criar uma </a:t>
            </a:r>
            <a:r>
              <a:rPr b="1" lang="en"/>
              <a:t>figura</a:t>
            </a:r>
            <a:r>
              <a:rPr lang="en"/>
              <a:t>: o “ambiente” onde trabalharemos;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/>
              <a:t>Plotar os dados: escolher um tipo de gráfico e chamar a funç</a:t>
            </a:r>
            <a:r>
              <a:rPr lang="en"/>
              <a:t>ão correspondente;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/>
              <a:t>Configurar o gráfico: ajustar detalhes como título, rótulos dos eixos, legenda, etc.</a:t>
            </a:r>
            <a:endParaRPr/>
          </a:p>
        </p:txBody>
      </p:sp>
      <p:pic>
        <p:nvPicPr>
          <p:cNvPr id="304" name="Google Shape;30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86525" y="530754"/>
            <a:ext cx="3055975" cy="438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8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Seaborn</a:t>
            </a:r>
            <a:endParaRPr/>
          </a:p>
        </p:txBody>
      </p:sp>
      <p:sp>
        <p:nvSpPr>
          <p:cNvPr id="310" name="Google Shape;310;p18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Nativamente integrado a Pandas, Seaborn trabalha diretamente com </a:t>
            </a:r>
            <a:r>
              <a:rPr b="1" lang="en"/>
              <a:t>DataFrames</a:t>
            </a:r>
            <a:r>
              <a:rPr lang="en"/>
              <a:t>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 partir daí, boa parte do trabalho é </a:t>
            </a:r>
            <a:r>
              <a:rPr b="1" lang="en"/>
              <a:t>abstraída</a:t>
            </a:r>
            <a:r>
              <a:rPr lang="en"/>
              <a:t>: quando um gráfico precisar de medidas como média, desvio padrão ou intervalos de confiança, </a:t>
            </a:r>
            <a:r>
              <a:rPr b="1" lang="en"/>
              <a:t>a biblioteca computa esses valores para você</a:t>
            </a:r>
            <a:r>
              <a:rPr lang="en"/>
              <a:t>.</a:t>
            </a:r>
            <a:endParaRPr/>
          </a:p>
        </p:txBody>
      </p:sp>
      <p:pic>
        <p:nvPicPr>
          <p:cNvPr id="311" name="Google Shape;311;p18"/>
          <p:cNvPicPr preferRelativeResize="0"/>
          <p:nvPr/>
        </p:nvPicPr>
        <p:blipFill rotWithShape="1">
          <a:blip r:embed="rId3">
            <a:alphaModFix/>
          </a:blip>
          <a:srcRect b="0" l="-1020" r="1020" t="0"/>
          <a:stretch/>
        </p:blipFill>
        <p:spPr>
          <a:xfrm>
            <a:off x="5426825" y="598563"/>
            <a:ext cx="2739499" cy="3793524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18"/>
          <p:cNvSpPr txBox="1"/>
          <p:nvPr/>
        </p:nvSpPr>
        <p:spPr>
          <a:xfrm>
            <a:off x="5281725" y="4392075"/>
            <a:ext cx="30297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O mesmo gráfico do slide anterior, feito com Seaborn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9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Como escolher?</a:t>
            </a:r>
            <a:endParaRPr/>
          </a:p>
        </p:txBody>
      </p:sp>
      <p:sp>
        <p:nvSpPr>
          <p:cNvPr id="318" name="Google Shape;318;p19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Gráficos simples, dados em tipos nativos do Python ou NumPy, controle fino sobre cada aspecto da visualizaç</a:t>
            </a:r>
            <a:r>
              <a:rPr lang="en"/>
              <a:t>ão:</a:t>
            </a:r>
            <a:endParaRPr/>
          </a:p>
        </p:txBody>
      </p:sp>
      <p:sp>
        <p:nvSpPr>
          <p:cNvPr id="319" name="Google Shape;319;p19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Gráficos avançados, dados em DataFrames do Pandas, configuraç</a:t>
            </a:r>
            <a:r>
              <a:rPr lang="en"/>
              <a:t>ão básica:</a:t>
            </a:r>
            <a:endParaRPr/>
          </a:p>
        </p:txBody>
      </p:sp>
      <p:pic>
        <p:nvPicPr>
          <p:cNvPr id="320" name="Google Shape;32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9900" y="2855250"/>
            <a:ext cx="1638300" cy="16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1" name="Google Shape;321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99750" y="2710474"/>
            <a:ext cx="1638300" cy="196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0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Uma dica prática</a:t>
            </a:r>
            <a:endParaRPr/>
          </a:p>
        </p:txBody>
      </p:sp>
      <p:sp>
        <p:nvSpPr>
          <p:cNvPr id="327" name="Google Shape;327;p20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No trabalho de um Cientista de Dados, é comum que os mesmos tipos de gráficos sejam usados, com modificaç</a:t>
            </a:r>
            <a:r>
              <a:rPr lang="en" sz="1900"/>
              <a:t>ões para cada caso.</a:t>
            </a:r>
            <a:endParaRPr sz="19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900"/>
              <a:t>Portanto, use </a:t>
            </a:r>
            <a:r>
              <a:rPr b="1" lang="en" sz="1900"/>
              <a:t>Seaborn</a:t>
            </a:r>
            <a:r>
              <a:rPr lang="en" sz="1900"/>
              <a:t> para fazer a </a:t>
            </a:r>
            <a:r>
              <a:rPr b="1" lang="en" sz="1900"/>
              <a:t>maior parte do trabalho</a:t>
            </a:r>
            <a:r>
              <a:rPr lang="en" sz="1900"/>
              <a:t>, e </a:t>
            </a:r>
            <a:r>
              <a:rPr b="1" lang="en" sz="1900"/>
              <a:t>Matplotlib</a:t>
            </a:r>
            <a:r>
              <a:rPr lang="en" sz="1900"/>
              <a:t> para </a:t>
            </a:r>
            <a:r>
              <a:rPr b="1" lang="en" sz="1900"/>
              <a:t>ajustes finos</a:t>
            </a:r>
            <a:r>
              <a:rPr lang="en" sz="1900"/>
              <a:t>.</a:t>
            </a:r>
            <a:endParaRPr sz="1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1"/>
          <p:cNvSpPr txBox="1"/>
          <p:nvPr>
            <p:ph type="title"/>
          </p:nvPr>
        </p:nvSpPr>
        <p:spPr>
          <a:xfrm>
            <a:off x="824000" y="1613825"/>
            <a:ext cx="52152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Como escolher o gráfico ideal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2"/>
          <p:cNvSpPr txBox="1"/>
          <p:nvPr>
            <p:ph type="title"/>
          </p:nvPr>
        </p:nvSpPr>
        <p:spPr>
          <a:xfrm>
            <a:off x="1303800" y="598575"/>
            <a:ext cx="3312000" cy="72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Gráfico de barras</a:t>
            </a:r>
            <a:endParaRPr/>
          </a:p>
        </p:txBody>
      </p:sp>
      <p:sp>
        <p:nvSpPr>
          <p:cNvPr id="338" name="Google Shape;338;p22"/>
          <p:cNvSpPr txBox="1"/>
          <p:nvPr>
            <p:ph idx="1" type="body"/>
          </p:nvPr>
        </p:nvSpPr>
        <p:spPr>
          <a:xfrm>
            <a:off x="1303800" y="1539550"/>
            <a:ext cx="3312000" cy="29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São os melhores para comparar quantidades entre categorias discretas.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Eles funcionam bem porque é fácil comparar comprimentos a partir de uma base comum.</a:t>
            </a:r>
            <a:endParaRPr/>
          </a:p>
        </p:txBody>
      </p:sp>
      <p:pic>
        <p:nvPicPr>
          <p:cNvPr id="339" name="Google Shape;33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7225" y="740225"/>
            <a:ext cx="4223400" cy="316755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22"/>
          <p:cNvSpPr txBox="1"/>
          <p:nvPr/>
        </p:nvSpPr>
        <p:spPr>
          <a:xfrm>
            <a:off x="4891575" y="3939850"/>
            <a:ext cx="3744000" cy="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Fonte: documentação do Matplotlib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3"/>
          <p:cNvSpPr txBox="1"/>
          <p:nvPr>
            <p:ph type="title"/>
          </p:nvPr>
        </p:nvSpPr>
        <p:spPr>
          <a:xfrm>
            <a:off x="1303800" y="598575"/>
            <a:ext cx="3312000" cy="72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Gráfico de linhas</a:t>
            </a:r>
            <a:endParaRPr/>
          </a:p>
        </p:txBody>
      </p:sp>
      <p:sp>
        <p:nvSpPr>
          <p:cNvPr id="346" name="Google Shape;346;p23"/>
          <p:cNvSpPr txBox="1"/>
          <p:nvPr>
            <p:ph idx="1" type="body"/>
          </p:nvPr>
        </p:nvSpPr>
        <p:spPr>
          <a:xfrm>
            <a:off x="1303800" y="1539550"/>
            <a:ext cx="3312000" cy="29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São a escolha padrão para mostrar tendências ao longo do tempo (séries temporais).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Evite usá-los para categorias que não tenham uma ordem lógica ou temporal entre si.</a:t>
            </a:r>
            <a:endParaRPr/>
          </a:p>
        </p:txBody>
      </p:sp>
      <p:sp>
        <p:nvSpPr>
          <p:cNvPr id="347" name="Google Shape;347;p23"/>
          <p:cNvSpPr txBox="1"/>
          <p:nvPr/>
        </p:nvSpPr>
        <p:spPr>
          <a:xfrm>
            <a:off x="4891575" y="3939850"/>
            <a:ext cx="3744000" cy="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Fonte: documentação do Matplotlib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348" name="Google Shape;34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51875" y="598575"/>
            <a:ext cx="4223400" cy="3167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4"/>
          <p:cNvSpPr txBox="1"/>
          <p:nvPr>
            <p:ph type="title"/>
          </p:nvPr>
        </p:nvSpPr>
        <p:spPr>
          <a:xfrm>
            <a:off x="1303800" y="598575"/>
            <a:ext cx="3312000" cy="72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Histograma</a:t>
            </a:r>
            <a:endParaRPr/>
          </a:p>
        </p:txBody>
      </p:sp>
      <p:sp>
        <p:nvSpPr>
          <p:cNvPr id="354" name="Google Shape;354;p24"/>
          <p:cNvSpPr txBox="1"/>
          <p:nvPr>
            <p:ph idx="1" type="body"/>
          </p:nvPr>
        </p:nvSpPr>
        <p:spPr>
          <a:xfrm>
            <a:off x="1303800" y="1539550"/>
            <a:ext cx="3312000" cy="29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Diferente das barras comuns, o histograma é usado para mostrar a distribuição de uma variável numérica contínua.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Ele agrupa os dados em intervalos (bins) para revelar a forma dos dados: se estão concentrados no centro (distribuição normal), se há muitos valores baixos ou se existem lacunas na amostra.</a:t>
            </a:r>
            <a:endParaRPr/>
          </a:p>
        </p:txBody>
      </p:sp>
      <p:sp>
        <p:nvSpPr>
          <p:cNvPr id="355" name="Google Shape;355;p24"/>
          <p:cNvSpPr txBox="1"/>
          <p:nvPr/>
        </p:nvSpPr>
        <p:spPr>
          <a:xfrm>
            <a:off x="4891575" y="3939850"/>
            <a:ext cx="3744000" cy="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Fonte: documentação do Matplotlib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356" name="Google Shape;35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51875" y="772300"/>
            <a:ext cx="4223400" cy="3167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25"/>
          <p:cNvSpPr txBox="1"/>
          <p:nvPr>
            <p:ph type="title"/>
          </p:nvPr>
        </p:nvSpPr>
        <p:spPr>
          <a:xfrm>
            <a:off x="1303800" y="598575"/>
            <a:ext cx="3312000" cy="72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Boxplot</a:t>
            </a:r>
            <a:endParaRPr/>
          </a:p>
        </p:txBody>
      </p:sp>
      <p:sp>
        <p:nvSpPr>
          <p:cNvPr id="362" name="Google Shape;362;p25"/>
          <p:cNvSpPr txBox="1"/>
          <p:nvPr>
            <p:ph idx="1" type="body"/>
          </p:nvPr>
        </p:nvSpPr>
        <p:spPr>
          <a:xfrm>
            <a:off x="1303800" y="1539550"/>
            <a:ext cx="3312000" cy="29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É uma ferramenta estatística poderosa para visualizar as medidas de dispersão e identificar valores atípicos.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Em um único gráfico, você consegue ver a mediana, os quartis e a amplitude dos dados. É ideal para comparar a variação entre diferentes grupos, como o salário em diferentes departamentos de uma empresa.</a:t>
            </a:r>
            <a:endParaRPr/>
          </a:p>
        </p:txBody>
      </p:sp>
      <p:sp>
        <p:nvSpPr>
          <p:cNvPr id="363" name="Google Shape;363;p25"/>
          <p:cNvSpPr txBox="1"/>
          <p:nvPr/>
        </p:nvSpPr>
        <p:spPr>
          <a:xfrm>
            <a:off x="4891575" y="3939850"/>
            <a:ext cx="3744000" cy="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Fonte: documentação do Matplotlib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364" name="Google Shape;36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51875" y="803200"/>
            <a:ext cx="4223400" cy="3167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6"/>
          <p:cNvSpPr txBox="1"/>
          <p:nvPr>
            <p:ph type="title"/>
          </p:nvPr>
        </p:nvSpPr>
        <p:spPr>
          <a:xfrm>
            <a:off x="1303800" y="598575"/>
            <a:ext cx="3433800" cy="72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Gráfico de dispers</a:t>
            </a:r>
            <a:r>
              <a:rPr lang="en"/>
              <a:t>ão</a:t>
            </a:r>
            <a:endParaRPr/>
          </a:p>
        </p:txBody>
      </p:sp>
      <p:sp>
        <p:nvSpPr>
          <p:cNvPr id="370" name="Google Shape;370;p26"/>
          <p:cNvSpPr txBox="1"/>
          <p:nvPr>
            <p:ph idx="1" type="body"/>
          </p:nvPr>
        </p:nvSpPr>
        <p:spPr>
          <a:xfrm>
            <a:off x="1303800" y="1539550"/>
            <a:ext cx="3312000" cy="29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Utilizado para explorar a relação ou correlação entre duas variáveis numéricas.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Cada ponto representa uma observação; se os pontos seguem uma direção (subindo ou descendo), há uma correlação. É o gráfico ideal para identificar se uma variável "causa" impacto em outra ou para encontrar agrupamentos naturais nos dados.</a:t>
            </a:r>
            <a:endParaRPr/>
          </a:p>
        </p:txBody>
      </p:sp>
      <p:sp>
        <p:nvSpPr>
          <p:cNvPr id="371" name="Google Shape;371;p26"/>
          <p:cNvSpPr txBox="1"/>
          <p:nvPr/>
        </p:nvSpPr>
        <p:spPr>
          <a:xfrm>
            <a:off x="4891575" y="3939850"/>
            <a:ext cx="3744000" cy="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Fonte: documentação do Matplotlib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372" name="Google Shape;37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2775" y="831225"/>
            <a:ext cx="4101600" cy="307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27"/>
          <p:cNvSpPr txBox="1"/>
          <p:nvPr>
            <p:ph type="title"/>
          </p:nvPr>
        </p:nvSpPr>
        <p:spPr>
          <a:xfrm>
            <a:off x="1303800" y="598575"/>
            <a:ext cx="3433800" cy="72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Gráfico de setores</a:t>
            </a:r>
            <a:endParaRPr/>
          </a:p>
        </p:txBody>
      </p:sp>
      <p:sp>
        <p:nvSpPr>
          <p:cNvPr id="378" name="Google Shape;378;p27"/>
          <p:cNvSpPr txBox="1"/>
          <p:nvPr>
            <p:ph idx="1" type="body"/>
          </p:nvPr>
        </p:nvSpPr>
        <p:spPr>
          <a:xfrm>
            <a:off x="1303800" y="1539550"/>
            <a:ext cx="3312000" cy="29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 ser usado com cautela apenas para mostrar a composição de um todo (partes de 100%), e somente quando houver poucas fatias (duas ou três).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Como o cérebro humano tem dificuldade em comparar áreas circulares e ângulos, ele se torna confuso rapidamente.</a:t>
            </a:r>
            <a:endParaRPr/>
          </a:p>
        </p:txBody>
      </p:sp>
      <p:sp>
        <p:nvSpPr>
          <p:cNvPr id="379" name="Google Shape;379;p27"/>
          <p:cNvSpPr txBox="1"/>
          <p:nvPr/>
        </p:nvSpPr>
        <p:spPr>
          <a:xfrm>
            <a:off x="4891575" y="3939850"/>
            <a:ext cx="3744000" cy="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Fonte: documentação do Matplotlib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380" name="Google Shape;38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2775" y="863650"/>
            <a:ext cx="4101600" cy="307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8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Escolhendo cores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29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Escolhendo cores</a:t>
            </a:r>
            <a:endParaRPr/>
          </a:p>
        </p:txBody>
      </p:sp>
      <p:sp>
        <p:nvSpPr>
          <p:cNvPr id="391" name="Google Shape;391;p29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Existem 3 principais tipos de paletas de cores para gráficos: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AutoNum type="arabicPeriod"/>
            </a:pPr>
            <a:r>
              <a:rPr lang="en"/>
              <a:t>Paletas qualitativas;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/>
              <a:t>Paletas sequenciais;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/>
              <a:t>Paletas divergentes.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0"/>
          <p:cNvSpPr txBox="1"/>
          <p:nvPr>
            <p:ph type="title"/>
          </p:nvPr>
        </p:nvSpPr>
        <p:spPr>
          <a:xfrm>
            <a:off x="1303800" y="598575"/>
            <a:ext cx="39237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Paletas qualitativas</a:t>
            </a:r>
            <a:endParaRPr/>
          </a:p>
        </p:txBody>
      </p:sp>
      <p:sp>
        <p:nvSpPr>
          <p:cNvPr id="397" name="Google Shape;397;p30"/>
          <p:cNvSpPr txBox="1"/>
          <p:nvPr>
            <p:ph idx="1" type="body"/>
          </p:nvPr>
        </p:nvSpPr>
        <p:spPr>
          <a:xfrm>
            <a:off x="1303800" y="1679500"/>
            <a:ext cx="3312000" cy="285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São ideais para representar categorias sem uma ordem intrínseca, como marcas, regiões geográficas ou tipos de produtos.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O objetivo aqui é a diferenciação visual máxima: as cores devem ser distintas o suficiente para que o olho não tente criar uma hierarquia inexistente entre elas. No Seaborn, você as encontra em paletas como colorblind ou bright.</a:t>
            </a:r>
            <a:endParaRPr/>
          </a:p>
        </p:txBody>
      </p:sp>
      <p:sp>
        <p:nvSpPr>
          <p:cNvPr id="398" name="Google Shape;398;p30"/>
          <p:cNvSpPr txBox="1"/>
          <p:nvPr/>
        </p:nvSpPr>
        <p:spPr>
          <a:xfrm>
            <a:off x="4835600" y="3934600"/>
            <a:ext cx="3744000" cy="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Fonte: documentação do Matplotlib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399" name="Google Shape;399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01750" y="1618038"/>
            <a:ext cx="3611701" cy="19074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1"/>
          <p:cNvSpPr txBox="1"/>
          <p:nvPr>
            <p:ph type="title"/>
          </p:nvPr>
        </p:nvSpPr>
        <p:spPr>
          <a:xfrm>
            <a:off x="1303800" y="598575"/>
            <a:ext cx="39237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Paletas divergentes</a:t>
            </a:r>
            <a:endParaRPr/>
          </a:p>
        </p:txBody>
      </p:sp>
      <p:sp>
        <p:nvSpPr>
          <p:cNvPr id="405" name="Google Shape;405;p31"/>
          <p:cNvSpPr txBox="1"/>
          <p:nvPr>
            <p:ph idx="1" type="body"/>
          </p:nvPr>
        </p:nvSpPr>
        <p:spPr>
          <a:xfrm>
            <a:off x="1303800" y="1679500"/>
            <a:ext cx="3312000" cy="285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Essas paletas destacam a distância em relação a um ponto central crítico (como zero ou uma média).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São perfeitas para visualizar lucros versus prejuízos, taxas de crescimento positivo ou negativo, ou desvios de uma meta.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Elas usam duas cores contrastantes nos extremos (ex: vermelho e azul) que se encontram em uma cor neutra no meio.</a:t>
            </a:r>
            <a:endParaRPr/>
          </a:p>
        </p:txBody>
      </p:sp>
      <p:sp>
        <p:nvSpPr>
          <p:cNvPr id="406" name="Google Shape;406;p31"/>
          <p:cNvSpPr txBox="1"/>
          <p:nvPr/>
        </p:nvSpPr>
        <p:spPr>
          <a:xfrm>
            <a:off x="4835600" y="3934600"/>
            <a:ext cx="3744000" cy="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Fonte: documentação do Matplotlib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407" name="Google Shape;40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01750" y="1414875"/>
            <a:ext cx="3611701" cy="23137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2"/>
          <p:cNvSpPr txBox="1"/>
          <p:nvPr>
            <p:ph type="title"/>
          </p:nvPr>
        </p:nvSpPr>
        <p:spPr>
          <a:xfrm>
            <a:off x="1303800" y="598575"/>
            <a:ext cx="39237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Paletas sequenciais</a:t>
            </a:r>
            <a:endParaRPr/>
          </a:p>
        </p:txBody>
      </p:sp>
      <p:sp>
        <p:nvSpPr>
          <p:cNvPr id="413" name="Google Shape;413;p32"/>
          <p:cNvSpPr txBox="1"/>
          <p:nvPr>
            <p:ph idx="1" type="body"/>
          </p:nvPr>
        </p:nvSpPr>
        <p:spPr>
          <a:xfrm>
            <a:off x="1303800" y="1679500"/>
            <a:ext cx="3312000" cy="285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000000"/>
                </a:solidFill>
              </a:rPr>
              <a:t>São utilizadas para representar dados numéricos que possuem uma </a:t>
            </a:r>
            <a:r>
              <a:rPr b="1" lang="en" sz="1100">
                <a:solidFill>
                  <a:srgbClr val="000000"/>
                </a:solidFill>
              </a:rPr>
              <a:t>ordem lógica ou gradação de intensidade</a:t>
            </a:r>
            <a:r>
              <a:rPr lang="en" sz="1100">
                <a:solidFill>
                  <a:srgbClr val="000000"/>
                </a:solidFill>
              </a:rPr>
              <a:t>, como volume de vendas, temperatura ou densidade populacional.</a:t>
            </a:r>
            <a:endParaRPr sz="11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000000"/>
                </a:solidFill>
              </a:rPr>
              <a:t>Geralmente variam de uma cor clara e suave (para valores baixos) até uma cor escura e saturada (para valores altos), permitindo que o público identifique instantaneamente onde estão as maiores concentrações de dados.</a:t>
            </a:r>
            <a:endParaRPr sz="11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000000"/>
                </a:solidFill>
              </a:rPr>
              <a:t>No Seaborn e Matplotlib, exemplos populares incluem as paletas </a:t>
            </a:r>
            <a:r>
              <a:rPr lang="en" sz="1100">
                <a:solidFill>
                  <a:srgbClr val="188038"/>
                </a:solidFill>
              </a:rPr>
              <a:t>Blues</a:t>
            </a:r>
            <a:r>
              <a:rPr lang="en" sz="1100">
                <a:solidFill>
                  <a:srgbClr val="000000"/>
                </a:solidFill>
              </a:rPr>
              <a:t>, </a:t>
            </a:r>
            <a:r>
              <a:rPr lang="en" sz="1100">
                <a:solidFill>
                  <a:srgbClr val="188038"/>
                </a:solidFill>
              </a:rPr>
              <a:t>Reds</a:t>
            </a:r>
            <a:r>
              <a:rPr lang="en" sz="1100">
                <a:solidFill>
                  <a:srgbClr val="000000"/>
                </a:solidFill>
              </a:rPr>
              <a:t> ou a perceptualmente uniforme </a:t>
            </a:r>
            <a:r>
              <a:rPr lang="en" sz="1100">
                <a:solidFill>
                  <a:srgbClr val="188038"/>
                </a:solidFill>
              </a:rPr>
              <a:t>viridis</a:t>
            </a:r>
            <a:r>
              <a:rPr lang="en" sz="1100">
                <a:solidFill>
                  <a:srgbClr val="000000"/>
                </a:solidFill>
              </a:rPr>
              <a:t>.</a:t>
            </a:r>
            <a:endParaRPr/>
          </a:p>
        </p:txBody>
      </p:sp>
      <p:sp>
        <p:nvSpPr>
          <p:cNvPr id="414" name="Google Shape;414;p32"/>
          <p:cNvSpPr txBox="1"/>
          <p:nvPr/>
        </p:nvSpPr>
        <p:spPr>
          <a:xfrm>
            <a:off x="4835600" y="3934600"/>
            <a:ext cx="3744000" cy="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Fonte: documentação do Matplotlib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415" name="Google Shape;415;p32"/>
          <p:cNvPicPr preferRelativeResize="0"/>
          <p:nvPr/>
        </p:nvPicPr>
        <p:blipFill rotWithShape="1">
          <a:blip r:embed="rId3">
            <a:alphaModFix/>
          </a:blip>
          <a:srcRect b="0" l="9420" r="0" t="0"/>
          <a:stretch/>
        </p:blipFill>
        <p:spPr>
          <a:xfrm>
            <a:off x="4937350" y="2106375"/>
            <a:ext cx="3824174" cy="1108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3"/>
          <p:cNvSpPr txBox="1"/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Acessibilidade na visualizaç</a:t>
            </a:r>
            <a:r>
              <a:rPr lang="en"/>
              <a:t>ão</a:t>
            </a:r>
            <a:endParaRPr/>
          </a:p>
        </p:txBody>
      </p:sp>
      <p:sp>
        <p:nvSpPr>
          <p:cNvPr id="421" name="Google Shape;421;p33"/>
          <p:cNvSpPr txBox="1"/>
          <p:nvPr>
            <p:ph idx="1" type="body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Alguns tipos de daltonismo podem dificultar a visualizaç</a:t>
            </a:r>
            <a:r>
              <a:rPr lang="en"/>
              <a:t>ão e a interpretação dos gráficos, dependendo das cores aplicadas (ex: verde e vermelho).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Para evitar esse problema, priorize paletas </a:t>
            </a:r>
            <a:r>
              <a:rPr b="1" lang="en"/>
              <a:t>perceptualmente uniformes</a:t>
            </a:r>
            <a:r>
              <a:rPr lang="en"/>
              <a:t>.</a:t>
            </a:r>
            <a:endParaRPr/>
          </a:p>
        </p:txBody>
      </p:sp>
      <p:pic>
        <p:nvPicPr>
          <p:cNvPr id="422" name="Google Shape;422;p33"/>
          <p:cNvPicPr preferRelativeResize="0"/>
          <p:nvPr/>
        </p:nvPicPr>
        <p:blipFill rotWithShape="1">
          <a:blip r:embed="rId3">
            <a:alphaModFix/>
          </a:blip>
          <a:srcRect b="0" l="0" r="49385" t="0"/>
          <a:stretch/>
        </p:blipFill>
        <p:spPr>
          <a:xfrm>
            <a:off x="5606300" y="629787"/>
            <a:ext cx="2459949" cy="1973813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p33"/>
          <p:cNvPicPr preferRelativeResize="0"/>
          <p:nvPr/>
        </p:nvPicPr>
        <p:blipFill rotWithShape="1">
          <a:blip r:embed="rId3">
            <a:alphaModFix/>
          </a:blip>
          <a:srcRect b="0" l="50308" r="0" t="0"/>
          <a:stretch/>
        </p:blipFill>
        <p:spPr>
          <a:xfrm>
            <a:off x="5606300" y="3021600"/>
            <a:ext cx="2459949" cy="2010450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3"/>
          <p:cNvSpPr txBox="1"/>
          <p:nvPr/>
        </p:nvSpPr>
        <p:spPr>
          <a:xfrm>
            <a:off x="5773325" y="328900"/>
            <a:ext cx="1896600" cy="3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Paleta não-acessível</a:t>
            </a:r>
            <a:endParaRPr b="1"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425" name="Google Shape;425;p33"/>
          <p:cNvSpPr txBox="1"/>
          <p:nvPr/>
        </p:nvSpPr>
        <p:spPr>
          <a:xfrm>
            <a:off x="5206650" y="2720700"/>
            <a:ext cx="3030000" cy="3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Paleta perceptualmente uniforme</a:t>
            </a:r>
            <a:endParaRPr b="1"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34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Como evitar gráficos enganosos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Como evitar gráficos enganosos</a:t>
            </a:r>
            <a:endParaRPr/>
          </a:p>
        </p:txBody>
      </p:sp>
      <p:sp>
        <p:nvSpPr>
          <p:cNvPr id="436" name="Google Shape;436;p35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eficácia dos gráficos em comunicar algo visualmente também pode ser usada para fins maliciosos. É importante evitar que isso aconteça.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 seguir, algumas técnicas que geram gráficos enganosos.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36"/>
          <p:cNvSpPr txBox="1"/>
          <p:nvPr>
            <p:ph type="title"/>
          </p:nvPr>
        </p:nvSpPr>
        <p:spPr>
          <a:xfrm>
            <a:off x="1303800" y="598575"/>
            <a:ext cx="39237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Eixo y truncado</a:t>
            </a:r>
            <a:endParaRPr/>
          </a:p>
        </p:txBody>
      </p:sp>
      <p:sp>
        <p:nvSpPr>
          <p:cNvPr id="442" name="Google Shape;442;p36"/>
          <p:cNvSpPr txBox="1"/>
          <p:nvPr>
            <p:ph idx="1" type="body"/>
          </p:nvPr>
        </p:nvSpPr>
        <p:spPr>
          <a:xfrm>
            <a:off x="1303800" y="1679500"/>
            <a:ext cx="3312000" cy="285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Este é o truque mais comum na mídia e em relatórios corporativos. Ao iniciar o eixo vertical em um valor diferente de zero, pequenas diferenças parecem variações catastróficas ou crescimentos explosivos.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 regra: Gráficos de barras devem começar no zero, pois o cérebro compara a área total da barra. Em gráficos de linha, o eixo truncado é aceitável para dar zoom em variações sutis, desde que isso seja explicitamente sinalizado.</a:t>
            </a:r>
            <a:endParaRPr/>
          </a:p>
        </p:txBody>
      </p:sp>
      <p:sp>
        <p:nvSpPr>
          <p:cNvPr id="443" name="Google Shape;443;p36"/>
          <p:cNvSpPr txBox="1"/>
          <p:nvPr/>
        </p:nvSpPr>
        <p:spPr>
          <a:xfrm>
            <a:off x="4870575" y="3934600"/>
            <a:ext cx="3674100" cy="9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Fonte: </a:t>
            </a:r>
            <a:r>
              <a:rPr lang="en" sz="1300" u="sng">
                <a:solidFill>
                  <a:schemeClr val="hlink"/>
                </a:solidFill>
                <a:latin typeface="Nunito"/>
                <a:ea typeface="Nunito"/>
                <a:cs typeface="Nunito"/>
                <a:sym typeface="Nunito"/>
                <a:hlinkClick r:id="rId3"/>
              </a:rPr>
              <a:t>https://neurochatter.com/scaling-the-brain-is-it-dishonest-to-truncate-your-y-axis/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444" name="Google Shape;444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01750" y="1660500"/>
            <a:ext cx="3611700" cy="1822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37"/>
          <p:cNvSpPr txBox="1"/>
          <p:nvPr>
            <p:ph type="title"/>
          </p:nvPr>
        </p:nvSpPr>
        <p:spPr>
          <a:xfrm>
            <a:off x="1303800" y="598575"/>
            <a:ext cx="39237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Falsa correlaç</a:t>
            </a:r>
            <a:r>
              <a:rPr lang="en"/>
              <a:t>ão</a:t>
            </a:r>
            <a:endParaRPr/>
          </a:p>
        </p:txBody>
      </p:sp>
      <p:sp>
        <p:nvSpPr>
          <p:cNvPr id="450" name="Google Shape;450;p37"/>
          <p:cNvSpPr txBox="1"/>
          <p:nvPr>
            <p:ph idx="1" type="body"/>
          </p:nvPr>
        </p:nvSpPr>
        <p:spPr>
          <a:xfrm>
            <a:off x="1303800" y="1679500"/>
            <a:ext cx="3312000" cy="285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Ocorre quando variáveis sem vínculo direto apresentam padrões visuais idênticos.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Geralmente é induzida por eixos duplos manipulados, sugerindo uma causalidade inexistente baseada em mera coincidência ou fatores ocultos.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>
                <a:solidFill>
                  <a:srgbClr val="000000"/>
                </a:solidFill>
              </a:rPr>
              <a:t>Como evitar:</a:t>
            </a:r>
            <a:r>
              <a:rPr lang="en">
                <a:solidFill>
                  <a:srgbClr val="000000"/>
                </a:solidFill>
              </a:rPr>
              <a:t> Use gráficos de dispersão para validar relações e prefira separar os dados em gráficos individuais lado a lado. Lembre-se: correlação não implica causalidade.</a:t>
            </a:r>
            <a:endParaRPr sz="1500">
              <a:solidFill>
                <a:srgbClr val="000000"/>
              </a:solidFill>
            </a:endParaRPr>
          </a:p>
        </p:txBody>
      </p:sp>
      <p:sp>
        <p:nvSpPr>
          <p:cNvPr id="451" name="Google Shape;451;p37"/>
          <p:cNvSpPr txBox="1"/>
          <p:nvPr/>
        </p:nvSpPr>
        <p:spPr>
          <a:xfrm>
            <a:off x="4870575" y="3934600"/>
            <a:ext cx="3674100" cy="9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Fonte: </a:t>
            </a:r>
            <a:r>
              <a:rPr lang="en" sz="1300" u="sng">
                <a:solidFill>
                  <a:schemeClr val="hlink"/>
                </a:solidFill>
                <a:latin typeface="Nunito"/>
                <a:ea typeface="Nunito"/>
                <a:cs typeface="Nunito"/>
                <a:sym typeface="Nunito"/>
                <a:hlinkClick r:id="rId3"/>
              </a:rPr>
              <a:t>https://www.tylervigen.com/spurious/correlation/2638_yogurt-consumption_correlates-with_the-bank-of-nova-scotias-stock-price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452" name="Google Shape;452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40550" y="1181100"/>
            <a:ext cx="3611700" cy="2263332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37"/>
          <p:cNvSpPr txBox="1"/>
          <p:nvPr/>
        </p:nvSpPr>
        <p:spPr>
          <a:xfrm>
            <a:off x="4940550" y="3387000"/>
            <a:ext cx="35760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66666"/>
                </a:solidFill>
                <a:latin typeface="Nunito"/>
                <a:ea typeface="Nunito"/>
                <a:cs typeface="Nunito"/>
                <a:sym typeface="Nunito"/>
              </a:rPr>
              <a:t>Tradução: Consumo de iogurte per capita nos EUA x Preço da ação do Banco de Nova Escócia</a:t>
            </a:r>
            <a:endParaRPr sz="1100">
              <a:solidFill>
                <a:srgbClr val="666666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38"/>
          <p:cNvSpPr txBox="1"/>
          <p:nvPr>
            <p:ph type="title"/>
          </p:nvPr>
        </p:nvSpPr>
        <p:spPr>
          <a:xfrm>
            <a:off x="1303800" y="598575"/>
            <a:ext cx="72408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Manipulação de Escalas e Proporções</a:t>
            </a:r>
            <a:endParaRPr/>
          </a:p>
        </p:txBody>
      </p:sp>
      <p:sp>
        <p:nvSpPr>
          <p:cNvPr id="459" name="Google Shape;459;p38"/>
          <p:cNvSpPr txBox="1"/>
          <p:nvPr>
            <p:ph idx="1" type="body"/>
          </p:nvPr>
        </p:nvSpPr>
        <p:spPr>
          <a:xfrm>
            <a:off x="1303800" y="1679500"/>
            <a:ext cx="3312000" cy="285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Alterar a proporção entre largura e altura pode suavizar ou exagerar uma tendência. Um gráfico de linha muito "esticado" verticalmente faz uma subida leve parecer um foguete.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Cuidado com o Eixo Duplo: Usar dois eixos Y diferentes para comparar variáveis distintas pode sugerir uma correlação que não existe, apenas ajustando as escalas para que as linhas se sobreponham.</a:t>
            </a:r>
            <a:endParaRPr/>
          </a:p>
        </p:txBody>
      </p:sp>
      <p:sp>
        <p:nvSpPr>
          <p:cNvPr id="460" name="Google Shape;460;p38"/>
          <p:cNvSpPr txBox="1"/>
          <p:nvPr/>
        </p:nvSpPr>
        <p:spPr>
          <a:xfrm>
            <a:off x="4961550" y="3899600"/>
            <a:ext cx="3674100" cy="9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Fonte: </a:t>
            </a:r>
            <a:r>
              <a:rPr lang="en" sz="1300" u="sng">
                <a:solidFill>
                  <a:schemeClr val="hlink"/>
                </a:solidFill>
                <a:latin typeface="Nunito"/>
                <a:ea typeface="Nunito"/>
                <a:cs typeface="Nunito"/>
                <a:sym typeface="Nunito"/>
                <a:hlinkClick r:id="rId3"/>
              </a:rPr>
              <a:t>https://www.lrs.org/2020/06/10/visualizing-data-manipulating-the-y-axis/</a:t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461" name="Google Shape;461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1118" y="1488887"/>
            <a:ext cx="4154951" cy="234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39"/>
          <p:cNvSpPr txBox="1"/>
          <p:nvPr>
            <p:ph type="title"/>
          </p:nvPr>
        </p:nvSpPr>
        <p:spPr>
          <a:xfrm>
            <a:off x="824000" y="763600"/>
            <a:ext cx="6313800" cy="357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Voc</a:t>
            </a:r>
            <a:r>
              <a:rPr lang="en"/>
              <a:t>ê chegou ao fim!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Acesse o notebook do módulo para ver exemplos.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