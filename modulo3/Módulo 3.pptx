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Maven Pro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6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-italic.fntdata"/><Relationship Id="rId13" Type="http://schemas.openxmlformats.org/officeDocument/2006/relationships/slide" Target="slides/slide8.xml"/><Relationship Id="rId35" Type="http://schemas.openxmlformats.org/officeDocument/2006/relationships/font" Target="fonts/MavenPro-bold.fntdata"/><Relationship Id="rId12" Type="http://schemas.openxmlformats.org/officeDocument/2006/relationships/slide" Target="slides/slide7.xml"/><Relationship Id="rId34" Type="http://schemas.openxmlformats.org/officeDocument/2006/relationships/font" Target="fonts/MavenPro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3864fc9cb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3864fc9cb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3864fc9cb_0_3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3864fc9c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3c210bb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3c210bb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3c210bb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3c210bb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3c210bb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3c210bb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3c210bb8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3c210bb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3c210bb8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3c210bb8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3c210bb8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3c210bb8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3c210bb8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3c210bb8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3c210bb8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3c210bb8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3c210bb8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3c210bb8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3c210bb8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d3c210bb8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3c210bb8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d3c210bb8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3c210bb8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d3c210bb8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3c210bb8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d3c210bb8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3c210bb8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3c210bb8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3c210bb8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3c210bb8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3c210bb8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d3c210bb8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3c210bb8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d3c210bb8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neurochatter.com/scaling-the-brain-is-it-dishonest-to-truncate-your-y-axis/" TargetMode="External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lrs.org/2020/06/10/visualizing-data-manipulating-the-y-axis/" TargetMode="External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4834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Visualizaç</a:t>
            </a:r>
            <a:r>
              <a:rPr lang="en"/>
              <a:t>ão de Dados com Matplotlib e Seaborn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8927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Comunicação objetiva com gráficos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Módulo 3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Conheça as ferramentas;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Como escolher o gráfico ideal;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Escolhendo as cores;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Evitando gráficos enganosos;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824000" y="1613825"/>
            <a:ext cx="6754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Conheça as ferramentas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98575"/>
            <a:ext cx="3312000" cy="10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Conheça as ferramentas</a:t>
            </a:r>
            <a:endParaRPr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03800" y="1819475"/>
            <a:ext cx="3312000" cy="27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Neste curso, usaremos duas bibliotecas para a criaç</a:t>
            </a:r>
            <a:r>
              <a:rPr lang="en" sz="1500"/>
              <a:t>ão de gráficos: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Matplotlib: a principal biblioteca para visualizaç</a:t>
            </a:r>
            <a:r>
              <a:rPr lang="en" sz="1500"/>
              <a:t>ão de dados;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Seaborn: criaç</a:t>
            </a:r>
            <a:r>
              <a:rPr lang="en" sz="1500"/>
              <a:t>ão de </a:t>
            </a:r>
            <a:r>
              <a:rPr lang="en" sz="1500"/>
              <a:t>gráficos complexos com poucas linhas de código.</a:t>
            </a:r>
            <a:endParaRPr sz="1500"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175" y="950175"/>
            <a:ext cx="16383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0850" y="2188575"/>
            <a:ext cx="19526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Matplotlib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fluxo tende a ser o seguinte: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Criar uma </a:t>
            </a:r>
            <a:r>
              <a:rPr b="1" lang="en"/>
              <a:t>figura</a:t>
            </a:r>
            <a:r>
              <a:rPr lang="en"/>
              <a:t>: o “ambiente” onde trabalharemos;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Plotar os dados: escolher um tipo de gráfico e chamar a funç</a:t>
            </a:r>
            <a:r>
              <a:rPr lang="en"/>
              <a:t>ão correspondente;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Configurar o gráfico: ajustar detalhes como título, rótulos dos eixos, legenda, etc.</a:t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525" y="530754"/>
            <a:ext cx="3055975" cy="43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Seaborn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Nativamente integrado a Pandas, Seaborn trabalha diretamente com </a:t>
            </a:r>
            <a:r>
              <a:rPr b="1" lang="en"/>
              <a:t>DataFrames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partir daí, boa parte do trabalho é </a:t>
            </a:r>
            <a:r>
              <a:rPr b="1" lang="en"/>
              <a:t>abstraída</a:t>
            </a:r>
            <a:r>
              <a:rPr lang="en"/>
              <a:t>: quando um gráfico precisar de medidas como média, desvio padrão ou intervalos de confiança, </a:t>
            </a:r>
            <a:r>
              <a:rPr b="1" lang="en"/>
              <a:t>a biblioteca computa esses valores para você</a:t>
            </a:r>
            <a:r>
              <a:rPr lang="en"/>
              <a:t>.</a:t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 rotWithShape="1">
          <a:blip r:embed="rId3">
            <a:alphaModFix/>
          </a:blip>
          <a:srcRect b="0" l="-1020" r="1020" t="0"/>
          <a:stretch/>
        </p:blipFill>
        <p:spPr>
          <a:xfrm>
            <a:off x="5426825" y="598563"/>
            <a:ext cx="2739499" cy="379352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8"/>
          <p:cNvSpPr txBox="1"/>
          <p:nvPr/>
        </p:nvSpPr>
        <p:spPr>
          <a:xfrm>
            <a:off x="5281725" y="4392075"/>
            <a:ext cx="30297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 mesmo gráfico do slide anterior, feito com Seaborn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escolher?</a:t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Gráficos simples, dados em tipos nativos do Python ou NumPy, controle fino sobre cada aspecto da visualizaç</a:t>
            </a:r>
            <a:r>
              <a:rPr lang="en"/>
              <a:t>ão:</a:t>
            </a:r>
            <a:endParaRPr/>
          </a:p>
        </p:txBody>
      </p:sp>
      <p:sp>
        <p:nvSpPr>
          <p:cNvPr id="319" name="Google Shape;319;p19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Gráficos avançados, dados em DataFrames do Pandas, configuraç</a:t>
            </a:r>
            <a:r>
              <a:rPr lang="en"/>
              <a:t>ão básica:</a:t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900" y="2855250"/>
            <a:ext cx="16383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750" y="2710474"/>
            <a:ext cx="1638300" cy="196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dica prática</a:t>
            </a:r>
            <a:endParaRPr/>
          </a:p>
        </p:txBody>
      </p:sp>
      <p:sp>
        <p:nvSpPr>
          <p:cNvPr id="327" name="Google Shape;327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No trabalho de um Cientista de Dados, é comum que os mesmos tipos de gráficos sejam usados, com modificaç</a:t>
            </a:r>
            <a:r>
              <a:rPr lang="en" sz="1900"/>
              <a:t>ões para cada caso.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Portanto, use </a:t>
            </a:r>
            <a:r>
              <a:rPr b="1" lang="en" sz="1900"/>
              <a:t>Seaborn</a:t>
            </a:r>
            <a:r>
              <a:rPr lang="en" sz="1900"/>
              <a:t> para fazer a </a:t>
            </a:r>
            <a:r>
              <a:rPr b="1" lang="en" sz="1900"/>
              <a:t>maior parte do trabalho</a:t>
            </a:r>
            <a:r>
              <a:rPr lang="en" sz="1900"/>
              <a:t>, e </a:t>
            </a:r>
            <a:r>
              <a:rPr b="1" lang="en" sz="1900"/>
              <a:t>Matplotlib</a:t>
            </a:r>
            <a:r>
              <a:rPr lang="en" sz="1900"/>
              <a:t> para </a:t>
            </a:r>
            <a:r>
              <a:rPr b="1" lang="en" sz="1900"/>
              <a:t>ajustes finos</a:t>
            </a:r>
            <a:r>
              <a:rPr lang="en" sz="1900"/>
              <a:t>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824000" y="1613825"/>
            <a:ext cx="5215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Como escolher o gráfico ideal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1303800" y="598575"/>
            <a:ext cx="33120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de barras</a:t>
            </a:r>
            <a:endParaRPr/>
          </a:p>
        </p:txBody>
      </p:sp>
      <p:sp>
        <p:nvSpPr>
          <p:cNvPr id="338" name="Google Shape;338;p22"/>
          <p:cNvSpPr txBox="1"/>
          <p:nvPr>
            <p:ph idx="1" type="body"/>
          </p:nvPr>
        </p:nvSpPr>
        <p:spPr>
          <a:xfrm>
            <a:off x="1303800" y="1539550"/>
            <a:ext cx="33120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São os melhores para comparar quantidades entre categorias discretas.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Eles funcionam bem porque é fácil comparar comprimentos a partir de uma base comum.</a:t>
            </a:r>
            <a:endParaRPr/>
          </a:p>
        </p:txBody>
      </p:sp>
      <p:pic>
        <p:nvPicPr>
          <p:cNvPr id="339" name="Google Shape;3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7225" y="740225"/>
            <a:ext cx="4223400" cy="316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4891575" y="393985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title"/>
          </p:nvPr>
        </p:nvSpPr>
        <p:spPr>
          <a:xfrm>
            <a:off x="1303800" y="598575"/>
            <a:ext cx="33120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de linhas</a:t>
            </a:r>
            <a:endParaRPr/>
          </a:p>
        </p:txBody>
      </p:sp>
      <p:sp>
        <p:nvSpPr>
          <p:cNvPr id="346" name="Google Shape;346;p23"/>
          <p:cNvSpPr txBox="1"/>
          <p:nvPr>
            <p:ph idx="1" type="body"/>
          </p:nvPr>
        </p:nvSpPr>
        <p:spPr>
          <a:xfrm>
            <a:off x="1303800" y="1539550"/>
            <a:ext cx="33120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São a escolha padrão para mostrar tendências ao longo do tempo (séries temporais).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Evite usá-los para categorias que não tenham uma ordem lógica ou temporal entre si.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4891575" y="393985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8" name="Google Shape;3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875" y="598575"/>
            <a:ext cx="4223400" cy="31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1303800" y="598575"/>
            <a:ext cx="33120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Histograma</a:t>
            </a:r>
            <a:endParaRPr/>
          </a:p>
        </p:txBody>
      </p:sp>
      <p:sp>
        <p:nvSpPr>
          <p:cNvPr id="354" name="Google Shape;354;p24"/>
          <p:cNvSpPr txBox="1"/>
          <p:nvPr>
            <p:ph idx="1" type="body"/>
          </p:nvPr>
        </p:nvSpPr>
        <p:spPr>
          <a:xfrm>
            <a:off x="1303800" y="1539550"/>
            <a:ext cx="33120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Diferente das barras comuns, o histograma é usado para mostrar a distribuição de uma variável numérica contínua.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Ele agrupa os dados em intervalos (bins) para revelar a forma dos dados: se estão concentrados no centro (distribuição normal), se há muitos valores baixos ou se existem lacunas na amostra.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4891575" y="393985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6" name="Google Shape;3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875" y="772300"/>
            <a:ext cx="4223400" cy="31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type="title"/>
          </p:nvPr>
        </p:nvSpPr>
        <p:spPr>
          <a:xfrm>
            <a:off x="1303800" y="598575"/>
            <a:ext cx="33120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</a:t>
            </a:r>
            <a:endParaRPr/>
          </a:p>
        </p:txBody>
      </p:sp>
      <p:sp>
        <p:nvSpPr>
          <p:cNvPr id="362" name="Google Shape;362;p25"/>
          <p:cNvSpPr txBox="1"/>
          <p:nvPr>
            <p:ph idx="1" type="body"/>
          </p:nvPr>
        </p:nvSpPr>
        <p:spPr>
          <a:xfrm>
            <a:off x="1303800" y="1539550"/>
            <a:ext cx="33120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 uma ferramenta estatística poderosa para visualizar as medidas de dispersão e identificar valores atípicos.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Em um único gráfico, você consegue ver a mediana, os quartis e a amplitude dos dados. É ideal para comparar a variação entre diferentes grupos, como o salário em diferentes departamentos de uma empresa.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4891575" y="393985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4" name="Google Shape;3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875" y="803200"/>
            <a:ext cx="4223400" cy="31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 txBox="1"/>
          <p:nvPr>
            <p:ph type="title"/>
          </p:nvPr>
        </p:nvSpPr>
        <p:spPr>
          <a:xfrm>
            <a:off x="1303800" y="598575"/>
            <a:ext cx="34338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de dispers</a:t>
            </a:r>
            <a:r>
              <a:rPr lang="en"/>
              <a:t>ão</a:t>
            </a:r>
            <a:endParaRPr/>
          </a:p>
        </p:txBody>
      </p:sp>
      <p:sp>
        <p:nvSpPr>
          <p:cNvPr id="370" name="Google Shape;370;p26"/>
          <p:cNvSpPr txBox="1"/>
          <p:nvPr>
            <p:ph idx="1" type="body"/>
          </p:nvPr>
        </p:nvSpPr>
        <p:spPr>
          <a:xfrm>
            <a:off x="1303800" y="1539550"/>
            <a:ext cx="33120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Utilizado para explorar a relação ou correlação entre duas variáveis numéricas.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Cada ponto representa uma observação; se os pontos seguem uma direção (subindo ou descendo), há uma correlação. É o gráfico ideal para identificar se uma variável "causa" impacto em outra ou para encontrar agrupamentos naturais nos dados.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4891575" y="393985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2" name="Google Shape;3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775" y="831225"/>
            <a:ext cx="4101600" cy="30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title"/>
          </p:nvPr>
        </p:nvSpPr>
        <p:spPr>
          <a:xfrm>
            <a:off x="1303800" y="598575"/>
            <a:ext cx="3433800" cy="7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de setores</a:t>
            </a:r>
            <a:endParaRPr/>
          </a:p>
        </p:txBody>
      </p:sp>
      <p:sp>
        <p:nvSpPr>
          <p:cNvPr id="378" name="Google Shape;378;p27"/>
          <p:cNvSpPr txBox="1"/>
          <p:nvPr>
            <p:ph idx="1" type="body"/>
          </p:nvPr>
        </p:nvSpPr>
        <p:spPr>
          <a:xfrm>
            <a:off x="1303800" y="1539550"/>
            <a:ext cx="33120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 ser usado com cautela apenas para mostrar a composição de um todo (partes de 100%), e somente quando houver poucas fatias (duas ou três).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Como o cérebro humano tem dificuldade em comparar áreas circulares e ângulos, ele se torna confuso rapidamente.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4891575" y="393985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0" name="Google Shape;3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775" y="863650"/>
            <a:ext cx="4101600" cy="30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Escolhendo cores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Escolhendo cores</a:t>
            </a:r>
            <a:endParaRPr/>
          </a:p>
        </p:txBody>
      </p:sp>
      <p:sp>
        <p:nvSpPr>
          <p:cNvPr id="391" name="Google Shape;391;p2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Existem 3 principais tipos de paletas de cores para gráficos: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Paletas qualitativas;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Paletas sequenciais;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Paletas divergentes.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>
            <p:ph type="title"/>
          </p:nvPr>
        </p:nvSpPr>
        <p:spPr>
          <a:xfrm>
            <a:off x="1303800" y="598575"/>
            <a:ext cx="39237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Paletas qualitativas</a:t>
            </a:r>
            <a:endParaRPr/>
          </a:p>
        </p:txBody>
      </p:sp>
      <p:sp>
        <p:nvSpPr>
          <p:cNvPr id="397" name="Google Shape;397;p30"/>
          <p:cNvSpPr txBox="1"/>
          <p:nvPr>
            <p:ph idx="1" type="body"/>
          </p:nvPr>
        </p:nvSpPr>
        <p:spPr>
          <a:xfrm>
            <a:off x="1303800" y="1679500"/>
            <a:ext cx="3312000" cy="28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São ideais para representar categorias sem uma ordem intrínseca, como marcas, regiões geográficas ou tipos de produtos.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 objetivo aqui é a diferenciação visual máxima: as cores devem ser distintas o suficiente para que o olho não tente criar uma hierarquia inexistente entre elas. No Seaborn, você as encontra em paletas como colorblind ou bright.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4835600" y="393460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9" name="Google Shape;3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750" y="1618038"/>
            <a:ext cx="3611701" cy="1907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"/>
          <p:cNvSpPr txBox="1"/>
          <p:nvPr>
            <p:ph type="title"/>
          </p:nvPr>
        </p:nvSpPr>
        <p:spPr>
          <a:xfrm>
            <a:off x="1303800" y="598575"/>
            <a:ext cx="39237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Paletas divergentes</a:t>
            </a:r>
            <a:endParaRPr/>
          </a:p>
        </p:txBody>
      </p:sp>
      <p:sp>
        <p:nvSpPr>
          <p:cNvPr id="405" name="Google Shape;405;p31"/>
          <p:cNvSpPr txBox="1"/>
          <p:nvPr>
            <p:ph idx="1" type="body"/>
          </p:nvPr>
        </p:nvSpPr>
        <p:spPr>
          <a:xfrm>
            <a:off x="1303800" y="1679500"/>
            <a:ext cx="3312000" cy="28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Essas paletas destacam a distância em relação a um ponto central crítico (como zero ou uma média).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São perfeitas para visualizar lucros versus prejuízos, taxas de crescimento positivo ou negativo, ou desvios de uma meta.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Elas usam duas cores contrastantes nos extremos (ex: vermelho e azul) que se encontram em uma cor neutra no meio.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4835600" y="3934600"/>
            <a:ext cx="3744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documentação do Matplotlib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7" name="Google Shape;40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750" y="1414875"/>
            <a:ext cx="3611701" cy="2313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Como evitar gráficos enganosos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evitar gráficos enganosos</a:t>
            </a:r>
            <a:endParaRPr/>
          </a:p>
        </p:txBody>
      </p:sp>
      <p:sp>
        <p:nvSpPr>
          <p:cNvPr id="418" name="Google Shape;418;p3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eficácia dos gráficos em comunicar algo visualmente também pode ser usada para fins maliciosos. É importante evitar que isso aconteça.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seguir, algumas técnicas que geram gráficos enganosos.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"/>
          <p:cNvSpPr txBox="1"/>
          <p:nvPr>
            <p:ph type="title"/>
          </p:nvPr>
        </p:nvSpPr>
        <p:spPr>
          <a:xfrm>
            <a:off x="1303800" y="598575"/>
            <a:ext cx="39237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Eixo y truncado</a:t>
            </a:r>
            <a:endParaRPr/>
          </a:p>
        </p:txBody>
      </p:sp>
      <p:sp>
        <p:nvSpPr>
          <p:cNvPr id="424" name="Google Shape;424;p34"/>
          <p:cNvSpPr txBox="1"/>
          <p:nvPr>
            <p:ph idx="1" type="body"/>
          </p:nvPr>
        </p:nvSpPr>
        <p:spPr>
          <a:xfrm>
            <a:off x="1303800" y="1679500"/>
            <a:ext cx="3312000" cy="28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é o truque mais comum na mídia e em relatórios corporativos. Ao iniciar o eixo vertical em um valor diferente de zero, pequenas diferenças parecem variações catastróficas ou crescimentos explosivos.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regra: Gráficos de barras devem começar no zero, pois o cérebro compara a área total da barra. Em gráficos de linha, o eixo truncado é aceitável para dar zoom em variações sutis, desde que isso seja explicitamente sinalizado.</a:t>
            </a:r>
            <a:endParaRPr/>
          </a:p>
        </p:txBody>
      </p:sp>
      <p:sp>
        <p:nvSpPr>
          <p:cNvPr id="425" name="Google Shape;425;p34"/>
          <p:cNvSpPr txBox="1"/>
          <p:nvPr/>
        </p:nvSpPr>
        <p:spPr>
          <a:xfrm>
            <a:off x="4870575" y="3934600"/>
            <a:ext cx="36741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</a:t>
            </a:r>
            <a:r>
              <a:rPr lang="en" sz="13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https://neurochatter.com/scaling-the-brain-is-it-dishonest-to-truncate-your-y-axis/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6" name="Google Shape;42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1750" y="1660500"/>
            <a:ext cx="3611700" cy="182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"/>
          <p:cNvSpPr txBox="1"/>
          <p:nvPr>
            <p:ph type="title"/>
          </p:nvPr>
        </p:nvSpPr>
        <p:spPr>
          <a:xfrm>
            <a:off x="1303800" y="598575"/>
            <a:ext cx="72408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Manipulação de Escalas e Proporções</a:t>
            </a:r>
            <a:endParaRPr/>
          </a:p>
        </p:txBody>
      </p:sp>
      <p:sp>
        <p:nvSpPr>
          <p:cNvPr id="432" name="Google Shape;432;p35"/>
          <p:cNvSpPr txBox="1"/>
          <p:nvPr>
            <p:ph idx="1" type="body"/>
          </p:nvPr>
        </p:nvSpPr>
        <p:spPr>
          <a:xfrm>
            <a:off x="1303800" y="1679500"/>
            <a:ext cx="3312000" cy="28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Alterar a proporção entre largura e altura pode suavizar ou exagerar uma tendência. Um gráfico de linha muito "esticado" verticalmente faz uma subida leve parecer um foguete.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Cuidado com o Eixo Duplo: Usar dois eixos Y diferentes para comparar variáveis distintas pode sugerir uma correlação que não existe, apenas ajustando as escalas para que as linhas se sobreponham.</a:t>
            </a:r>
            <a:endParaRPr/>
          </a:p>
        </p:txBody>
      </p:sp>
      <p:sp>
        <p:nvSpPr>
          <p:cNvPr id="433" name="Google Shape;433;p35"/>
          <p:cNvSpPr txBox="1"/>
          <p:nvPr/>
        </p:nvSpPr>
        <p:spPr>
          <a:xfrm>
            <a:off x="4961550" y="3899600"/>
            <a:ext cx="36741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Fonte: </a:t>
            </a:r>
            <a:r>
              <a:rPr lang="en" sz="13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https://www.lrs.org/2020/06/10/visualizing-data-manipulating-the-y-axis/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4" name="Google Shape;43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1118" y="1488887"/>
            <a:ext cx="4154951" cy="234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6"/>
          <p:cNvSpPr txBox="1"/>
          <p:nvPr>
            <p:ph type="title"/>
          </p:nvPr>
        </p:nvSpPr>
        <p:spPr>
          <a:xfrm>
            <a:off x="824000" y="763600"/>
            <a:ext cx="6313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</a:t>
            </a:r>
            <a:r>
              <a:rPr lang="en"/>
              <a:t>ê chegou ao fim!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Acesse o notebook do módulo para ver exemplos.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